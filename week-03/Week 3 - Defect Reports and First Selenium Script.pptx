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72300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ENGINEERING 2 · SECTION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162373"/>
            <a:ext cx="1056616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Defect Reports</a:t>
            </a:r>
            <a:endParaRPr lang="en-US" sz="43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your first Selenium script</a:t>
            </a:r>
            <a:endParaRPr lang="en-US" sz="43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3583259"/>
            <a:ext cx="10566166" cy="66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found the bug in week two. This week you make somebody else able to fix it — and then you make the browser do the clicking.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810" y="4493819"/>
            <a:ext cx="10566166" cy="640994"/>
          </a:xfrm>
          <a:prstGeom prst="roundRect">
            <a:avLst>
              <a:gd name="adj" fmla="val 15849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1410" y="4671578"/>
            <a:ext cx="10108966" cy="28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Eng. Mohamed Shehab · Faculty of Computers and Information, Menoufia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47063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WHOLE SESSION IN ONE EXCHANGE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909999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“The page is broken”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598359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826959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TESTER WROTE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10758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“The page is broken, please fix”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466399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 Sunday 11:40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8418" y="2598359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728" y="2826959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DEVELOPER REPLIED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728" y="310758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“Cannot reproduce. Works on my machine.”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728" y="3466399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Replied Monday 09:15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220779"/>
            <a:ext cx="10566166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wrong with the software yet. What is broken is the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sentence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4777008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days later a customer hit it in production. The defect was known on Sunday and nobody could act on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363279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THE END OF THIS SESSION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802740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things, and you will do all four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491008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719608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000329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 a defect from a non-defect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359048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know the three words for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8418" y="2491008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728" y="2719608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728" y="3000329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report a stranger can act 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728" y="3359048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fields, one rule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10" y="4113428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4029" y="4342028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4029" y="462265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a defect through its life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4029" y="4981468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New, open, fixed, closed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8418" y="4113428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728" y="4342028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9728" y="462265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the browser click for you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19728" y="4981468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first Selenium script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953719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DEFINITION YOU WILL BE EXAMINED 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393180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defect is a gap, not an opinion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081449"/>
            <a:ext cx="10566166" cy="1064270"/>
          </a:xfrm>
          <a:prstGeom prst="roundRect">
            <a:avLst>
              <a:gd name="adj" fmla="val 9545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259300"/>
            <a:ext cx="101089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defect is any </a:t>
            </a:r>
            <a:pPr algn="l"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deviation between the expected behaviour of a system and its actual behaviour</a:t>
            </a:r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10" y="3387029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4029" y="3615629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4029" y="389625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form submits successfully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4029" y="4255069"/>
            <a:ext cx="471793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the requirement, the design, or the standard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8418" y="3387029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728" y="3615629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ACTUAL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19728" y="389625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happens, no error shown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9728" y="4255069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saw with your eyes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5293827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expected behaviour, no defect. That is why “I do not like the colour” is not a defect report.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9474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CALLBACK · WEEK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386779"/>
            <a:ext cx="10566166" cy="8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Error, defect, failure — and which one you report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522190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750790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03141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human did something wrong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390138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developer typed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 &gt; 18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2522190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750790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303141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sitting in the code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3390138"/>
            <a:ext cx="2929372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line is in the file, committed, shipped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2522190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750790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FAILURE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303141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user sees it go wrong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3390138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18 year old is refused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10" y="4428988"/>
            <a:ext cx="10566166" cy="62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report the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you saw, and the developer finds the defect. You almost never report the error.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2810" y="5300228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your report says “the developer wrote the wrong operator”, you are guessing. Report what the screen did.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031718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EIGHT FIELDS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471087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goes in a defect report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159447"/>
          <a:ext cx="10566166" cy="914400"/>
        </p:xfrm>
        <a:graphic>
          <a:graphicData uri="http://schemas.openxmlformats.org/drawingml/2006/table">
            <a:tbl>
              <a:tblPr/>
              <a:tblGrid>
                <a:gridCol w="888980"/>
                <a:gridCol w="2730440"/>
                <a:gridCol w="694674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Field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answers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Example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is wrong, in one line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“Submit button unresponsive on login page”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do I make it happen again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 Go to /login   2. Enter valid credentials   3. Click Submit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Expected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should have happened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Form submits successfully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happened instead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Nothing happens, no error shown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Environment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did you find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Chrome 124, Windows 11, Staging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urgently must it be fixed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 / Medium / Low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Attachments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proves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Screenshot, console log, video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is it now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 / Open / Fixed / Closed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5521056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the defect report table in the course material, page 101.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079632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FIELD 1 OF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519001"/>
            <a:ext cx="10566166" cy="8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title is read fifty times, the body twice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654412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883012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163641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“Login bug”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522452"/>
            <a:ext cx="2929372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wrong? Where? For whom?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2654412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883012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3163641"/>
            <a:ext cx="292937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“Everything is broken in checkout!!”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3798600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Panic is not information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2654412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883012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3163641"/>
            <a:ext cx="292937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“Submit button unresponsive on login page”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3798600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Object, problem, place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10" y="4561210"/>
            <a:ext cx="10566166" cy="670530"/>
          </a:xfrm>
          <a:prstGeom prst="roundRect">
            <a:avLst>
              <a:gd name="adj" fmla="val 15151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1410" y="4739061"/>
            <a:ext cx="10108966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good title answers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wrong and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in under ten words, with no adjectives.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5473050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title ends up in a list of four hundred. Write it so it can be found again.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99468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FIELD 2 OF 8 · THE ONE THAT DECIDES EVERYTHING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434145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Steps to reproduce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122414"/>
            <a:ext cx="591808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351014"/>
            <a:ext cx="543546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631735"/>
            <a:ext cx="543546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from a state the reader can reach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2990454"/>
            <a:ext cx="543546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“from where I was”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10" y="3630534"/>
            <a:ext cx="5918088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4029" y="3859134"/>
            <a:ext cx="543546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4029" y="4139763"/>
            <a:ext cx="543546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 it to the person next to you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4029" y="4498574"/>
            <a:ext cx="543546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they ask one question, it is not finished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95948" y="2122414"/>
            <a:ext cx="4483029" cy="2889138"/>
          </a:xfrm>
          <a:prstGeom prst="roundRect">
            <a:avLst>
              <a:gd name="adj" fmla="val 3076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11837" y="2312975"/>
            <a:ext cx="405115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 Go to https://app.example.com/login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11837" y="2579614"/>
            <a:ext cx="405115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 Enter username: testuser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11837" y="2846344"/>
            <a:ext cx="405115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 Enter password: Test@123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11837" y="3112983"/>
            <a:ext cx="405115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 Click the Submit button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11837" y="3379714"/>
            <a:ext cx="405115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 Observe the page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5252862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rule is the same one Exercise 3 was marked by last week. It is not a new skill — it is the same skill, after you pressed run.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7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FIELDS 3 AND 4 · THE PAIR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7282"/>
            <a:ext cx="10566166" cy="401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 and actual, side by side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825234"/>
            <a:ext cx="5200559" cy="1495318"/>
          </a:xfrm>
          <a:prstGeom prst="roundRect">
            <a:avLst>
              <a:gd name="adj" fmla="val 6794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053834"/>
            <a:ext cx="4717938" cy="17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 RESULT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294961"/>
            <a:ext cx="4717938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 submits successfully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2603205"/>
            <a:ext cx="4717938" cy="488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where it comes from: REQ-07, the wireframe, or the standard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8418" y="1825234"/>
            <a:ext cx="5200559" cy="1495318"/>
          </a:xfrm>
          <a:prstGeom prst="roundRect">
            <a:avLst>
              <a:gd name="adj" fmla="val 6794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728" y="2053834"/>
            <a:ext cx="4717938" cy="17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ACTUAL RESULT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728" y="2294961"/>
            <a:ext cx="4717938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happens, no error shown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728" y="2603205"/>
            <a:ext cx="4717938" cy="488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Exactly what you saw. Not what you think caused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10" y="3537265"/>
            <a:ext cx="5200559" cy="1743304"/>
          </a:xfrm>
          <a:prstGeom prst="roundRect">
            <a:avLst>
              <a:gd name="adj" fmla="val 582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4029" y="3765865"/>
            <a:ext cx="4717938" cy="171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NOT CONTRADICT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4029" y="4009004"/>
            <a:ext cx="4717938" cy="478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Expected: the user can log in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Actual: the site is slow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4029" y="4559107"/>
            <a:ext cx="471793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true sentences about different things. No defect here.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8418" y="3537265"/>
            <a:ext cx="5200559" cy="1743304"/>
          </a:xfrm>
          <a:prstGeom prst="roundRect">
            <a:avLst>
              <a:gd name="adj" fmla="val 582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728" y="3765865"/>
            <a:ext cx="4717938" cy="171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CONTRADICTS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9728" y="4009004"/>
            <a:ext cx="4717938" cy="478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Expected: the form submits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Actual: nothing happens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19728" y="4559107"/>
            <a:ext cx="471793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action, two outcomes. Now it is a defect.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10" y="5497190"/>
            <a:ext cx="10566166" cy="547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them as two sentences that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contradict each other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“It did not work” is not an actual result — it is a feeling.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099932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FIELD 5 OF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539392"/>
            <a:ext cx="10566166" cy="8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“Works on my machine” is an environment field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674711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90331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BROWSER AND VERSION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183941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Chrome 124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542751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“the browser”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2674711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90331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OPERATING SYSTEM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3183941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 11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3542751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the device, if mobile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2674711"/>
            <a:ext cx="3411992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90331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BUILD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3183941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Staging, build 1.4.2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3542751"/>
            <a:ext cx="2929372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single most skipped field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10" y="4581601"/>
            <a:ext cx="10566166" cy="62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developer in the hook could not reproduce it. Half of those cases are not mysteries — they are a missing environment line.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2810" y="5452750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mobile add the device and OS version. “Android” is not an environment.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033912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FIELD 6 OF 8 · EXAM MATERIAL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473281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Priority is not severity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161642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390242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SEVERITY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670871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badly it breaks the product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029682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technical judgement. The tester sets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8418" y="2161642"/>
            <a:ext cx="5200559" cy="1381110"/>
          </a:xfrm>
          <a:prstGeom prst="roundRect">
            <a:avLst>
              <a:gd name="adj" fmla="val 735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728" y="2390242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728" y="2670871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soon it must be fixed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728" y="3029682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business judgement. The team sets it.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3784062"/>
          <a:ext cx="10566166" cy="914400"/>
        </p:xfrm>
        <a:graphic>
          <a:graphicData uri="http://schemas.openxmlformats.org/drawingml/2006/table">
            <a:tbl>
              <a:tblPr/>
              <a:tblGrid>
                <a:gridCol w="4825893"/>
                <a:gridCol w="2870137"/>
                <a:gridCol w="28701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case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Severity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Checkout crashes for every user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company name is misspelled on the home page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Low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rare crash in a screen nobody opens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Low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812810" y="5518770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two and three are the whole point. They are also the exam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04104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REAL REPORT, AS IT WAS FILED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480505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Would you fix this?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168774"/>
            <a:ext cx="10566166" cy="3101553"/>
          </a:xfrm>
          <a:prstGeom prst="roundRect">
            <a:avLst>
              <a:gd name="adj" fmla="val 327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346625"/>
            <a:ext cx="10108966" cy="2745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Problem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 tried to buy something and it didnt work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it should work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it doesnt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my laptop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5511637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fields filled. Zero fields usable. Which one would you fix first?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986912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DEFECT, REWRITTEN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426373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it is a job somebody can start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114641"/>
            <a:ext cx="10566166" cy="3209818"/>
          </a:xfrm>
          <a:prstGeom prst="roundRect">
            <a:avLst>
              <a:gd name="adj" fmla="val 3165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1410" y="2292492"/>
            <a:ext cx="10108966" cy="285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Checkout fails with no message when a coupon is applied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1. Log in as test@fci.edu   2. Add “Wireless Mouse” to the cart   3. Apply coupon SAVE10   4. Click Place order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order is placed and the confirmation page appears (REQ-09)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page reloads, the cart is empty, no message is shown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Chrome 124, Windows 11, Staging build 1.4.2   ·  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Severity: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High  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Priority: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High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5565770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defect. Same tester. The difference is twenty extra seconds of typing.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444490"/>
            <a:ext cx="391152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REPORT GOES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807690"/>
            <a:ext cx="3911529" cy="89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defect</a:t>
            </a:r>
            <a:endParaRPr lang="en-US" sz="32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lifecycle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866839"/>
            <a:ext cx="391152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box is a state. The small line under it says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moves it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10" y="2565349"/>
            <a:ext cx="3911529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 Gold edge — the tester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2886029"/>
            <a:ext cx="3911529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 Blue edge — the lead or the developer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3206709"/>
            <a:ext cx="3911529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70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 Red — retest failed, back to Open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10" y="3628979"/>
            <a:ext cx="3911529" cy="926470"/>
          </a:xfrm>
          <a:prstGeom prst="roundRect">
            <a:avLst>
              <a:gd name="adj" fmla="val 10965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1410" y="3806739"/>
            <a:ext cx="3454329" cy="57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tester opens it and closes it.</a:t>
            </a:r>
            <a:endParaRPr lang="en-US" sz="1500" dirty="0"/>
          </a:p>
        </p:txBody>
      </p:sp>
      <p:pic>
        <p:nvPicPr>
          <p:cNvPr id="11" name="Image 0" descr="D:\______Work\Menofia University\1st Term 2026-2027\Software Engineering - 2\Week 3\_deck\assets\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109" y="444490"/>
            <a:ext cx="6349868" cy="55878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4696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LIFECYCLE · THE MAIN PATH · ONE LOGIN DEFECT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22877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states, followed on one defect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247687"/>
          <a:ext cx="10566166" cy="914400"/>
        </p:xfrm>
        <a:graphic>
          <a:graphicData uri="http://schemas.openxmlformats.org/drawingml/2006/table">
            <a:tbl>
              <a:tblPr/>
              <a:tblGrid>
                <a:gridCol w="1584925"/>
                <a:gridCol w="3486835"/>
                <a:gridCol w="1479263"/>
                <a:gridCol w="401514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MEANS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OUR DEFECT: “LOGIN FAILS WITH A VALID PASSWORD”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Filed. Nobody has looked yet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file it with the five steps from slide 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Assigned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Accepted and given to a developer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 lead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lead reads it and assigns it to the login developer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developer is working on 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Developer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They follow your steps and see the same failure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 changed. The developer says done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Developer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password check compared the wrong field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 Retest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fix is in a build, waiting for you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 2.4.1 is on the test server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Retest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Same steps, new build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repeat steps 1 to 5 exactly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defect is gone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testuser / Test@123 logs 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Closed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Nothing left to 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close it — not the developer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5305806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is a claim. Verified is evidence. Only the second one closes a defect.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LIFECYCLE · THE WAYS OUT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8463"/>
            <a:ext cx="10566166" cy="43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exits from Open, and one loop back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05244"/>
            <a:ext cx="2546330" cy="2164659"/>
          </a:xfrm>
          <a:prstGeom prst="roundRect">
            <a:avLst>
              <a:gd name="adj" fmla="val 469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133844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DUPLICATE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414473"/>
            <a:ext cx="2063709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Already reported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2773284"/>
            <a:ext cx="2063709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defect, or same root cause. Linked to the first report.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6059" y="1905244"/>
            <a:ext cx="2546330" cy="2164659"/>
          </a:xfrm>
          <a:prstGeom prst="roundRect">
            <a:avLst>
              <a:gd name="adj" fmla="val 469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27369" y="2133844"/>
            <a:ext cx="2063709" cy="190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27369" y="2403500"/>
            <a:ext cx="2063709" cy="26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“Not a defect”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27369" y="2748138"/>
            <a:ext cx="2063709" cy="1093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often: cannot reproduce. Your steps did not work for them.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59307" y="1905244"/>
            <a:ext cx="2546330" cy="2164659"/>
          </a:xfrm>
          <a:prstGeom prst="roundRect">
            <a:avLst>
              <a:gd name="adj" fmla="val 469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617" y="2133844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DEFERRED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617" y="2414473"/>
            <a:ext cx="2063709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Real, but not now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617" y="2773284"/>
            <a:ext cx="2063709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priority or no time. Moved to a later release.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32647" y="1905244"/>
            <a:ext cx="2546330" cy="2164659"/>
          </a:xfrm>
          <a:prstGeom prst="roundRect">
            <a:avLst>
              <a:gd name="adj" fmla="val 469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3957" y="2133844"/>
            <a:ext cx="2063709" cy="191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A BUG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73957" y="2404689"/>
            <a:ext cx="2063709" cy="53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Works, just not how you like it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073957" y="3017611"/>
            <a:ext cx="2063709" cy="82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“Make the button blue.” A change request, not a defect.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810" y="4303624"/>
            <a:ext cx="10566166" cy="916503"/>
          </a:xfrm>
          <a:prstGeom prst="roundRect">
            <a:avLst>
              <a:gd name="adj" fmla="val 11085"/>
            </a:avLst>
          </a:prstGeom>
          <a:solidFill>
            <a:srgbClr val="1D3153"/>
          </a:solidFill>
          <a:ln w="25400">
            <a:solidFill>
              <a:srgbClr val="E270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1410" y="4481383"/>
            <a:ext cx="10108966" cy="56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ReOpened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retest failed. The defect goes back to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to the same developer, with the same report. Not a new defect.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2810" y="5453939"/>
            <a:ext cx="10566166" cy="5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defect that came back once can come back again. That is why we rerun old tests — regression, from week 1.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REPORTS COME BACK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50991"/>
            <a:ext cx="1056616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ways to get your report rejected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37431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166031"/>
            <a:ext cx="2929372" cy="1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445654"/>
            <a:ext cx="2929372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Cannot reproduce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2803093"/>
            <a:ext cx="2929372" cy="566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steps, or steps that skip a state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1937431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166031"/>
            <a:ext cx="2929372" cy="1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2445654"/>
            <a:ext cx="2929372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defect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2803093"/>
            <a:ext cx="2929372" cy="566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expected behaviour to point 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1937431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16603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2446660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2805471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Somebody filed it last week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10" y="3839108"/>
            <a:ext cx="5200559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4029" y="4067708"/>
            <a:ext cx="4717938" cy="1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4029" y="4347332"/>
            <a:ext cx="4717938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as designed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4029" y="4704771"/>
            <a:ext cx="4717938" cy="566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disagreed with the requirement, not with the build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8418" y="3839108"/>
            <a:ext cx="5200559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728" y="4067708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19728" y="434833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information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19728" y="4707148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environment, no build, no evidence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2810" y="5740786"/>
            <a:ext cx="10566166" cy="30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of the five are avoidable while you are still typing.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145652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IT NOW · FIVE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585112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 the screen you already broke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273381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501981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SCREEN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782702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2, the confirmation page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141421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red × above the words “Order confirmed!”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8418" y="2273381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728" y="2501981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ALREADY DID THE HARD PART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728" y="2782702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found it in nine seconds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728" y="3141421"/>
            <a:ext cx="471793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Now write it so Cairo can fix it without calling Shebin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10" y="4180271"/>
            <a:ext cx="10566166" cy="985540"/>
          </a:xfrm>
          <a:prstGeom prst="roundRect">
            <a:avLst>
              <a:gd name="adj" fmla="val 10308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1410" y="4358030"/>
            <a:ext cx="10108966" cy="62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Four lines. Then swap with the person next to you and try to act on theirs.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5407030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have to ask them a single question, hand it back.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2232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 TWO · FIRST, WHAT YOU DID BY HAND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61689"/>
            <a:ext cx="10566166" cy="8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have run the same four steps eleven times today.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2341230"/>
            <a:ext cx="2546330" cy="2226290"/>
          </a:xfrm>
          <a:prstGeom prst="roundRect">
            <a:avLst>
              <a:gd name="adj" fmla="val 456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569738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PRECONDITION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850459"/>
            <a:ext cx="206370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to the starting state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485418"/>
            <a:ext cx="2063709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Logged out, on the login page, testuser exists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6059" y="2341230"/>
            <a:ext cx="2546330" cy="2226290"/>
          </a:xfrm>
          <a:prstGeom prst="roundRect">
            <a:avLst>
              <a:gd name="adj" fmla="val 456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27369" y="2569738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EXECUTE THE STEPS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27369" y="2850459"/>
            <a:ext cx="206370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the steps, in order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27369" y="3485418"/>
            <a:ext cx="2063709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username and password, click Submit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59307" y="2341230"/>
            <a:ext cx="2546330" cy="2226290"/>
          </a:xfrm>
          <a:prstGeom prst="roundRect">
            <a:avLst>
              <a:gd name="adj" fmla="val 456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617" y="2569738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COMPARE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617" y="2850459"/>
            <a:ext cx="206370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 against actual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617" y="3485418"/>
            <a:ext cx="206370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Should see the dashboard. Did you?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32647" y="2341230"/>
            <a:ext cx="2546330" cy="2226290"/>
          </a:xfrm>
          <a:prstGeom prst="roundRect">
            <a:avLst>
              <a:gd name="adj" fmla="val 4563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3957" y="2569738"/>
            <a:ext cx="206370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· REPORT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73957" y="2850459"/>
            <a:ext cx="206370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Pass, or file a defect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073957" y="3485418"/>
            <a:ext cx="2063709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result down, every single run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810" y="4808738"/>
            <a:ext cx="10566166" cy="650870"/>
          </a:xfrm>
          <a:prstGeom prst="roundRect">
            <a:avLst>
              <a:gd name="adj" fmla="val 15608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1410" y="4986498"/>
            <a:ext cx="101089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</a:t>
            </a:r>
            <a:pPr algn="l"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testing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 person does all four, by hand, every time.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2810" y="5700918"/>
            <a:ext cx="10566166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Now you teach the browser to run them.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323503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AUTOMATION IS FOR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762872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to find bugs. To re-find them.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451232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679832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HUMAN IS BETTER 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960461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Seeing what looks wrong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319181"/>
            <a:ext cx="471793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red × over “Order confirmed”. No script catches that.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8418" y="2451232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728" y="2679832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MACHINE IS BETTER AT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728" y="2960461"/>
            <a:ext cx="4717938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 the same thing for the hundredth time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728" y="3595421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3am, identically, without getting bored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358030"/>
            <a:ext cx="10566166" cy="62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does not replace the tester. It replaces the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eleventh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time the tester runs the same four steps.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5229271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regression testing — the thing we named in week one and never automated.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464229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THAT ARE NOT TRUE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903689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 myths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592050"/>
            <a:ext cx="3411992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820558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310127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“Automate everything”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459998"/>
            <a:ext cx="2929372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script is code you now have to maintain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2592050"/>
            <a:ext cx="3411992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820558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310127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“It is cheaper”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3459998"/>
            <a:ext cx="2929372" cy="85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Cheaper on run two hundred. Much more expensive on run one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2592050"/>
            <a:ext cx="3411992" cy="1950049"/>
          </a:xfrm>
          <a:prstGeom prst="roundRect">
            <a:avLst>
              <a:gd name="adj" fmla="val 5210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820558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3101279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“No more manual testers”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3459998"/>
            <a:ext cx="2929372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Somebody has to decide what the script should assert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10" y="4783318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suite is a second product. It has its own defects, and nobody writes a defect report for it.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279154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EACH ONE WINS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718615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or automated?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406884"/>
          <a:ext cx="10566166" cy="914400"/>
        </p:xfrm>
        <a:graphic>
          <a:graphicData uri="http://schemas.openxmlformats.org/drawingml/2006/table">
            <a:tbl>
              <a:tblPr/>
              <a:tblGrid>
                <a:gridCol w="5460879"/>
                <a:gridCol w="510528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job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 does it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Checking a screen you have never seen before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Running 200 login cases every night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Automated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Judging whether a layout looks wrong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Re-running the cart suite after every commit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Automated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Testing a feature that changes every two days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10" y="4968392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last row is the one teams get wrong. Automating a moving target costs more than running it by hand.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170889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TOOL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610350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Selenium actually 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298619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527219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807940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library that drives a real browser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166659"/>
            <a:ext cx="471793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Java code tells Chrome what to do, as if a person did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8418" y="2298619"/>
            <a:ext cx="5200559" cy="1665580"/>
          </a:xfrm>
          <a:prstGeom prst="roundRect">
            <a:avLst>
              <a:gd name="adj" fmla="val 6099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728" y="2527219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IS NOT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728" y="2807940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testing framework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19728" y="3166659"/>
            <a:ext cx="471793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has no assertions and no reports. TestNG does that.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4205508"/>
            <a:ext cx="10566166" cy="62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Selenium opens the browser, finds elements and clicks them. Deciding whether the result is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still your job.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2810" y="5076657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why week one said Selenium is black-box: you drive the interface, you never read the application's code.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444490"/>
            <a:ext cx="266693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TOOL · SELENIUM.DEV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807690"/>
            <a:ext cx="2666939" cy="81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name,</a:t>
            </a:r>
            <a:endParaRPr lang="en-US" sz="29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tools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1783080"/>
            <a:ext cx="266693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project's own home page. Read the three columns.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10" y="2748229"/>
            <a:ext cx="2666939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name, three different jobs.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10" y="3446739"/>
            <a:ext cx="2666939" cy="1182319"/>
          </a:xfrm>
          <a:prstGeom prst="roundRect">
            <a:avLst>
              <a:gd name="adj" fmla="val 8592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1410" y="3624499"/>
            <a:ext cx="2209739" cy="82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use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WebDriver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other two you should recognise.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59098" y="444490"/>
            <a:ext cx="7619787" cy="4667098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/>
        </p:spPr>
      </p:sp>
      <p:pic>
        <p:nvPicPr>
          <p:cNvPr id="10" name="Image 0" descr="D:\______Work\Menofia University\1st Term 2026-2027\Software Engineering - 2\Week 3\_deck\assets\selenium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098" y="444490"/>
            <a:ext cx="7619787" cy="46670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82945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TOOL · WHICH ONE, WHEN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322314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WebDriver, IDE and Grid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010674"/>
          <a:ext cx="10566166" cy="914400"/>
        </p:xfrm>
        <a:graphic>
          <a:graphicData uri="http://schemas.openxmlformats.org/drawingml/2006/table">
            <a:tbl>
              <a:tblPr/>
              <a:tblGrid>
                <a:gridCol w="1690587"/>
                <a:gridCol w="3169850"/>
                <a:gridCol w="2852865"/>
                <a:gridCol w="285286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WEBDRIVER · WE USE THIS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is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library in Java, Python, C#…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Chrome or Firefox extension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server that spreads tests out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you use 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write code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click; it records, then plays back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send WebDriver tests to 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Best for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Regression suites that last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Reproducing a bug quickly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Many browsers and machines at once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Needs code?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 — WebDriver code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Weak point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must program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Breaks when the page changes; little logic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Machines to set up and run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this course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Every week from now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used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used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10" y="4492173"/>
            <a:ext cx="10566166" cy="631210"/>
          </a:xfrm>
          <a:prstGeom prst="roundRect">
            <a:avLst>
              <a:gd name="adj" fmla="val 1609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41410" y="4670024"/>
            <a:ext cx="10108966" cy="27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 does not replace WebDriver. It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WebDriver tests on many machines at the same time.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2810" y="5364693"/>
            <a:ext cx="10566166" cy="61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Selenium IDE is not IntelliJ. One records clicks in the browser; the other is where you write WebDriver code.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ANY CODE RUNS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45596"/>
            <a:ext cx="10566166" cy="4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things in the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23623"/>
            <a:ext cx="4495648" cy="998891"/>
          </a:xfrm>
          <a:prstGeom prst="roundRect">
            <a:avLst>
              <a:gd name="adj" fmla="val 101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152223"/>
            <a:ext cx="4013119" cy="19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425172"/>
            <a:ext cx="4013119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JDK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10" y="3035076"/>
            <a:ext cx="4495648" cy="1360353"/>
          </a:xfrm>
          <a:prstGeom prst="roundRect">
            <a:avLst>
              <a:gd name="adj" fmla="val 746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4029" y="3263585"/>
            <a:ext cx="4013119" cy="1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4029" y="3537996"/>
            <a:ext cx="4013119" cy="270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4029" y="3888760"/>
            <a:ext cx="4013119" cy="2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IntelliJ IDEA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10" y="4507992"/>
            <a:ext cx="4495648" cy="998891"/>
          </a:xfrm>
          <a:prstGeom prst="roundRect">
            <a:avLst>
              <a:gd name="adj" fmla="val 101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4029" y="4736592"/>
            <a:ext cx="4013119" cy="19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4029" y="5009540"/>
            <a:ext cx="4013119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Maven project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73598" y="1923623"/>
            <a:ext cx="5905378" cy="3583259"/>
          </a:xfrm>
          <a:prstGeom prst="roundRect">
            <a:avLst>
              <a:gd name="adj" fmla="val 248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89488" y="2114093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&lt;dependencies&gt;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89488" y="2333183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&lt;dependency&gt;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89488" y="2552182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&lt;groupId&gt;org.seleniumhq.selenium&lt;/groupId&gt;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89488" y="2771272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&lt;artifactId&gt;selenium-java&lt;/artifactId&gt;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89488" y="2990362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&lt;version&gt;4.43.0&lt;/version&gt;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89488" y="3209453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&lt;/dependency&gt;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89488" y="3428543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&lt;dependency&gt;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89488" y="3647542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&lt;groupId&gt;org.testng&lt;/groupId&gt;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89488" y="3866632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&lt;artifactId&gt;testng&lt;/artifactId&gt;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89488" y="4085722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&lt;version&gt;7.12.0&lt;/version&gt;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89488" y="4304812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&lt;/dependency&gt;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89488" y="4523811"/>
            <a:ext cx="547359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&lt;/dependencies&gt;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12810" y="5744535"/>
            <a:ext cx="10566166" cy="30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Maven downloads them for you. You never put a .jar in a folder by hand.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FIRST SCRIPT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9020"/>
            <a:ext cx="10566166" cy="40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lines that open a browser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829714"/>
            <a:ext cx="10566166" cy="2834274"/>
          </a:xfrm>
          <a:prstGeom prst="roundRect">
            <a:avLst>
              <a:gd name="adj" fmla="val 3136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020184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 class FirstProject {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265517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510851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@Test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756184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 void openTheShop() {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3001518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WebDriver driver = new ChromeDriver();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246852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driver.get("https://www.saucedemo.com/");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492185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System.out.println(driver.getTitle());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28700" y="3737519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driver.quit();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" y="3982852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" y="4228186"/>
            <a:ext cx="10134387" cy="24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810" y="4881524"/>
            <a:ext cx="3411992" cy="1163483"/>
          </a:xfrm>
          <a:prstGeom prst="roundRect">
            <a:avLst>
              <a:gd name="adj" fmla="val 873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4029" y="5110124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new ChromeDriver()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4029" y="5390845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 Chrome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852" y="4881524"/>
            <a:ext cx="3411992" cy="1163483"/>
          </a:xfrm>
          <a:prstGeom prst="roundRect">
            <a:avLst>
              <a:gd name="adj" fmla="val 873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1162" y="5110124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driver.get(url)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31162" y="5390845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Goes to the page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66893" y="4881524"/>
            <a:ext cx="3411992" cy="1163483"/>
          </a:xfrm>
          <a:prstGeom prst="roundRect">
            <a:avLst>
              <a:gd name="adj" fmla="val 8732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08203" y="5110124"/>
            <a:ext cx="2929372" cy="16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driver.quit()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08203" y="5348143"/>
            <a:ext cx="2929372" cy="46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Closes it and ends the session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⚠ A REAL DEFECT, IN YOUR OWN COURSE MATERIAL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45596"/>
            <a:ext cx="10566166" cy="4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browsers open. Why?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23623"/>
            <a:ext cx="4597329" cy="3583259"/>
          </a:xfrm>
          <a:prstGeom prst="roundRect">
            <a:avLst>
              <a:gd name="adj" fmla="val 248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114093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 class firstproject {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36171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60933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WebDriver driver = new ChromeDriver();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857043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310466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@BeforeTest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35228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public void prepare() {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599993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driver = new ChromeDriver();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8700" y="384761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" y="4095232"/>
            <a:ext cx="416545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5188" y="1923623"/>
            <a:ext cx="5803788" cy="998891"/>
          </a:xfrm>
          <a:prstGeom prst="roundRect">
            <a:avLst>
              <a:gd name="adj" fmla="val 101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16498" y="2152223"/>
            <a:ext cx="5321168" cy="19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16498" y="2425172"/>
            <a:ext cx="5321168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 Chrome when the class is built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5188" y="3035076"/>
            <a:ext cx="5803788" cy="998891"/>
          </a:xfrm>
          <a:prstGeom prst="roundRect">
            <a:avLst>
              <a:gd name="adj" fmla="val 101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16498" y="3263585"/>
            <a:ext cx="5321168" cy="19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16498" y="3536625"/>
            <a:ext cx="5321168" cy="26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 Chrome again, before the test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575188" y="4146438"/>
            <a:ext cx="5803788" cy="1360353"/>
          </a:xfrm>
          <a:prstGeom prst="roundRect">
            <a:avLst>
              <a:gd name="adj" fmla="val 7468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16498" y="4375038"/>
            <a:ext cx="5321168" cy="1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16498" y="4649450"/>
            <a:ext cx="5321168" cy="270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windows. The first one is never closed.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816498" y="5000122"/>
            <a:ext cx="5321168" cy="278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quit() only reaches the second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2810" y="5744535"/>
            <a:ext cx="10566166" cy="30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Now write it up. Title, steps, expected, actual. You have everything you need.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9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MOVING AROUND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0483"/>
            <a:ext cx="10566166" cy="40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Navigation and window methods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833372"/>
            <a:ext cx="5200559" cy="1465417"/>
          </a:xfrm>
          <a:prstGeom prst="roundRect">
            <a:avLst>
              <a:gd name="adj" fmla="val 6065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023842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driver.get(url);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240737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driver.navigate().to(url);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457633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driver.navigate().back();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674529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driver.navigate().forward();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2891424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driver.navigate().refresh();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418" y="1833372"/>
            <a:ext cx="5200559" cy="1465417"/>
          </a:xfrm>
          <a:prstGeom prst="roundRect">
            <a:avLst>
              <a:gd name="adj" fmla="val 6065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4308" y="2023842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driver.manage().window().maximize();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94308" y="2240737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driver.manage().window().minimize();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94308" y="2457633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driver.manage().window().fullscreen();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94308" y="2674529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driver.manage().window().setSize(d);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94308" y="2891424"/>
            <a:ext cx="4768687" cy="21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driver.manage().window().setPosition(p);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810" y="3517148"/>
            <a:ext cx="5200559" cy="1757294"/>
          </a:xfrm>
          <a:prstGeom prst="roundRect">
            <a:avLst>
              <a:gd name="adj" fmla="val 578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4029" y="3745748"/>
            <a:ext cx="4717938" cy="173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MYTH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4029" y="3991539"/>
            <a:ext cx="4717938" cy="483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“navigate().to() keeps the history, get() does not”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4029" y="4547586"/>
            <a:ext cx="4717938" cy="49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will hear it in interviews and read it online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8418" y="3517148"/>
            <a:ext cx="5200559" cy="1757294"/>
          </a:xfrm>
          <a:prstGeom prst="roundRect">
            <a:avLst>
              <a:gd name="adj" fmla="val 5781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728" y="3745748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19728" y="4026378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get(A), get(B), back() → you are on 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19728" y="4385188"/>
            <a:ext cx="471793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back() works after get() too. Inside Selenium, to() just calls get()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2810" y="5492801"/>
            <a:ext cx="10566166" cy="55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command, two names. The right interview answer: no difference — navigate() only groups to, back, forward and refresh.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READING THE PAGE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87623"/>
            <a:ext cx="105661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Getting information back 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774759"/>
            <a:ext cx="10566166" cy="1917405"/>
          </a:xfrm>
          <a:prstGeom prst="roundRect">
            <a:avLst>
              <a:gd name="adj" fmla="val 4635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1965228"/>
            <a:ext cx="10134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 url   = driver.getCurrentUrl();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184684"/>
            <a:ext cx="10134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 title = driver.getTitle();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404232"/>
            <a:ext cx="10134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 html  = driver.getPageSource();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623688"/>
            <a:ext cx="10134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 handle = driver.getWindowHandle();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2843144"/>
            <a:ext cx="10134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062691"/>
            <a:ext cx="10134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driver.close();   // this tab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282147"/>
            <a:ext cx="10134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driver.quit();    // the whole browser, and the session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10" y="3897996"/>
            <a:ext cx="5200559" cy="1420703"/>
          </a:xfrm>
          <a:prstGeom prst="roundRect">
            <a:avLst>
              <a:gd name="adj" fmla="val 7151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4029" y="4126596"/>
            <a:ext cx="471793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getTitle()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4029" y="4407225"/>
            <a:ext cx="471793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you will assert 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4029" y="4766036"/>
            <a:ext cx="4717938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“Swag Labs” — compare it and you have a test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8418" y="3897996"/>
            <a:ext cx="5200559" cy="1420703"/>
          </a:xfrm>
          <a:prstGeom prst="roundRect">
            <a:avLst>
              <a:gd name="adj" fmla="val 715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728" y="4126596"/>
            <a:ext cx="4717938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getPageSource()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9728" y="4350349"/>
            <a:ext cx="4717938" cy="220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entire HTML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19728" y="4636465"/>
            <a:ext cx="4717938" cy="45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Useful, but almost never what you want to assert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10" y="5524530"/>
            <a:ext cx="10566166" cy="52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2 said Selenium would compare an expected string character by character.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getTitle() is that string.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8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SAYS PASS OR FAIL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4963"/>
            <a:ext cx="10566166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TestNG runs them, in the order you choose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845076"/>
            <a:ext cx="10566166" cy="1935510"/>
          </a:xfrm>
          <a:prstGeom prst="roundRect">
            <a:avLst>
              <a:gd name="adj" fmla="val 4592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2035546"/>
            <a:ext cx="10134387" cy="22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@BeforeTest  public void prepare()  { driver = new ChromeDriver(); 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257654"/>
            <a:ext cx="10134387" cy="22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479670"/>
            <a:ext cx="10134387" cy="22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@Test(priority = 1)  public void signUp()    { 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701778"/>
            <a:ext cx="10134387" cy="22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@Test(priority = 2)  public void login()     { 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2923885"/>
            <a:ext cx="10134387" cy="22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@Test(priority = 3)  public void addToCart() { 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145902"/>
            <a:ext cx="10134387" cy="22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3368010"/>
            <a:ext cx="10134387" cy="22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@AfterTest   public void tearDown() { driver.quit(); 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10" y="4001414"/>
            <a:ext cx="3411992" cy="1264158"/>
          </a:xfrm>
          <a:prstGeom prst="roundRect">
            <a:avLst>
              <a:gd name="adj" fmla="val 803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4029" y="4230014"/>
            <a:ext cx="2929372" cy="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@BeforeTest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4029" y="4475165"/>
            <a:ext cx="2929372" cy="24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 the browser once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4029" y="4788530"/>
            <a:ext cx="2929372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any test runs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852" y="4001414"/>
            <a:ext cx="3411992" cy="1264158"/>
          </a:xfrm>
          <a:prstGeom prst="roundRect">
            <a:avLst>
              <a:gd name="adj" fmla="val 803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31162" y="4230014"/>
            <a:ext cx="2929372" cy="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31162" y="4475165"/>
            <a:ext cx="2929372" cy="24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 number runs first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31162" y="4788530"/>
            <a:ext cx="2929372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 then 2, then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66893" y="4001414"/>
            <a:ext cx="3411992" cy="1264158"/>
          </a:xfrm>
          <a:prstGeom prst="roundRect">
            <a:avLst>
              <a:gd name="adj" fmla="val 803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08203" y="4230014"/>
            <a:ext cx="2929372" cy="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@AfterTest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8203" y="4475165"/>
            <a:ext cx="2929372" cy="24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Closes it once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08203" y="4788530"/>
            <a:ext cx="2929372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 if a test failed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2810" y="5486491"/>
            <a:ext cx="10566166" cy="558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 driver in @BeforeTest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the field — never both. That was the defect two slides ago.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686336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125797"/>
            <a:ext cx="10566166" cy="44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does the script find the button?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2814066"/>
            <a:ext cx="10566166" cy="914400"/>
          </a:xfrm>
          <a:prstGeom prst="roundRect">
            <a:avLst>
              <a:gd name="adj" fmla="val 9720"/>
            </a:avLst>
          </a:prstGeom>
          <a:solidFill>
            <a:srgbClr val="0F1C3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700" y="3004627"/>
            <a:ext cx="10134387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driver.findElement(By.id("user-name")).sendKeys("standard_user");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3271266"/>
            <a:ext cx="10134387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driver.findElement(By.cssSelector("#login-button")).click();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10" y="3969776"/>
            <a:ext cx="2031980" cy="655259"/>
          </a:xfrm>
          <a:prstGeom prst="roundRect">
            <a:avLst>
              <a:gd name="adj" fmla="val 1550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4029" y="4198376"/>
            <a:ext cx="154935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46288" y="3969776"/>
            <a:ext cx="2031980" cy="655259"/>
          </a:xfrm>
          <a:prstGeom prst="roundRect">
            <a:avLst>
              <a:gd name="adj" fmla="val 1550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7598" y="4198376"/>
            <a:ext cx="154935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9858" y="3969776"/>
            <a:ext cx="2031980" cy="655259"/>
          </a:xfrm>
          <a:prstGeom prst="roundRect">
            <a:avLst>
              <a:gd name="adj" fmla="val 1550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21168" y="4198376"/>
            <a:ext cx="154935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3427" y="3969776"/>
            <a:ext cx="2031980" cy="655259"/>
          </a:xfrm>
          <a:prstGeom prst="roundRect">
            <a:avLst>
              <a:gd name="adj" fmla="val 1550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4737" y="4198376"/>
            <a:ext cx="154935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46997" y="3969776"/>
            <a:ext cx="2031980" cy="655259"/>
          </a:xfrm>
          <a:prstGeom prst="roundRect">
            <a:avLst>
              <a:gd name="adj" fmla="val 15504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88216" y="4198376"/>
            <a:ext cx="1549359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XPath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2810" y="4866345"/>
            <a:ext cx="10566166" cy="305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today opened pages. Next week we touch what is on them.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THINGS TO TAKE 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50991"/>
            <a:ext cx="1056616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you remember nothing else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10" y="1937431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4029" y="2166031"/>
            <a:ext cx="2929372" cy="1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445654"/>
            <a:ext cx="2929372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defect is a gap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2803093"/>
            <a:ext cx="2929372" cy="566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 versus actual, with a source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852" y="1937431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162" y="216603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31162" y="2446660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 decide everything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1162" y="2805471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steps, no fix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6893" y="1937431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8203" y="2166031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08203" y="2446660"/>
            <a:ext cx="292937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Severity is not priority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08203" y="2805471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versus business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10" y="3839108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4029" y="4067708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4029" y="4348338"/>
            <a:ext cx="292937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tester closes the defect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4029" y="4983389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the developer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852" y="3839108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1162" y="4067708"/>
            <a:ext cx="2929372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31162" y="4348338"/>
            <a:ext cx="292937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re-finds, it does not find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31162" y="4983389"/>
            <a:ext cx="2929372" cy="28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regression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66893" y="3839108"/>
            <a:ext cx="3411992" cy="1661008"/>
          </a:xfrm>
          <a:prstGeom prst="roundRect">
            <a:avLst>
              <a:gd name="adj" fmla="val 6116"/>
            </a:avLst>
          </a:prstGeom>
          <a:solidFill>
            <a:srgbClr val="1D3153"/>
          </a:solidFill>
          <a:ln w="25400">
            <a:solidFill>
              <a:srgbClr val="D4AF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08203" y="4067708"/>
            <a:ext cx="2929372" cy="1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08203" y="4347332"/>
            <a:ext cx="2929372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driver, one place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08203" y="4704771"/>
            <a:ext cx="2929372" cy="566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Field or @BeforeTest, never both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2810" y="5740786"/>
            <a:ext cx="10566166" cy="30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only two: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2810" y="1109990"/>
            <a:ext cx="1056616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10" y="1876989"/>
            <a:ext cx="6349868" cy="2558948"/>
          </a:xfrm>
          <a:prstGeom prst="roundRect">
            <a:avLst>
              <a:gd name="adj" fmla="val 397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4029" y="2105589"/>
            <a:ext cx="5867248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CONTACT 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4029" y="2386310"/>
            <a:ext cx="5867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Eng. Mohamed Shehab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4029" y="2745029"/>
            <a:ext cx="586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mohamed.shehab.fci@gmail.com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telegram  @shebo280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4029" y="3376239"/>
            <a:ext cx="5867248" cy="56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of Computers and Information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Menoufia University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5858" y="1876989"/>
            <a:ext cx="1904970" cy="2558948"/>
          </a:xfrm>
          <a:prstGeom prst="roundRect">
            <a:avLst>
              <a:gd name="adj" fmla="val 53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pic>
        <p:nvPicPr>
          <p:cNvPr id="10" name="Image 0" descr="D:\______Work\Menofia University\1st Term 2026-2027\Software Engineering - 2\Week 3\_deck\assets\se2-telegram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057" y="2029419"/>
            <a:ext cx="1460480" cy="1460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518197" y="3566069"/>
            <a:ext cx="160020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 group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18197" y="3856939"/>
            <a:ext cx="1600200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between sessions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474007" y="1876989"/>
            <a:ext cx="1904970" cy="2558948"/>
          </a:xfrm>
          <a:prstGeom prst="roundRect">
            <a:avLst>
              <a:gd name="adj" fmla="val 533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</p:sp>
      <p:pic>
        <p:nvPicPr>
          <p:cNvPr id="14" name="Image 1" descr="D:\______Work\Menofia University\1st Term 2026-2027\Software Engineering - 2\Week 3\_deck\assets\se2-playlist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206" y="2029419"/>
            <a:ext cx="1460480" cy="1460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26346" y="3566069"/>
            <a:ext cx="160020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Recordings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9626346" y="3856939"/>
            <a:ext cx="1600200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session, in order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12810" y="4699559"/>
            <a:ext cx="10566166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Engineering 2 · Week 3 · Defect Reports and First Selenium Script — this session is video 3 in the playlist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12810" y="5452567"/>
            <a:ext cx="105661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Bring a laptop next week with Java and IntelliJ installed. Week four is hands on keyboards.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3 - Defect Reports and First Selenium Script</dc:title>
  <dc:subject>PptxGenJS Presentation</dc:subject>
  <dc:creator>PptxGenJS</dc:creator>
  <cp:lastModifiedBy>PptxGenJS</cp:lastModifiedBy>
  <cp:revision>1</cp:revision>
  <dcterms:created xsi:type="dcterms:W3CDTF">2026-10-18T04:09:24Z</dcterms:created>
  <dcterms:modified xsi:type="dcterms:W3CDTF">2026-10-18T04:09:24Z</dcterms:modified>
</cp:coreProperties>
</file>